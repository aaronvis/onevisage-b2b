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3694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7315200" y="0"/>
            <a:ext cx="1828800" cy="1234440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</a:t>
            </a:r>
            <a:r>
              <a:rPr lang="en-US" sz="3600" b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Visage</a:t>
            </a:r>
            <a:r>
              <a:rPr lang="en-US" sz="1800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®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Branding &amp;</a:t>
            </a:r>
            <a:endParaRPr lang="en-US" sz="3300" dirty="0"/>
          </a:p>
          <a:p>
            <a:pPr marL="0" indent="0">
              <a:buNone/>
            </a:pPr>
            <a:r>
              <a:rPr lang="en-US" sz="33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Positioning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Cyber Community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337560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Text 6"/>
          <p:cNvSpPr/>
          <p:nvPr/>
        </p:nvSpPr>
        <p:spPr>
          <a:xfrm>
            <a:off x="594360" y="34107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Skema Business School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370332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↘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4251960"/>
            <a:ext cx="2011680" cy="347472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Text 9"/>
          <p:cNvSpPr/>
          <p:nvPr/>
        </p:nvSpPr>
        <p:spPr>
          <a:xfrm>
            <a:off x="502920" y="4251960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March 2026  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91440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€67B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937760" y="1481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Cyber Market 2025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10312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937760" y="26700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CAGR 2025-30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291840"/>
            <a:ext cx="3931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1,366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4937760" y="38587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ANSSI Incidents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-274320" y="-274320"/>
            <a:ext cx="1371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Shape 2"/>
          <p:cNvSpPr/>
          <p:nvPr/>
        </p:nvSpPr>
        <p:spPr>
          <a:xfrm>
            <a:off x="-457200" y="-457200"/>
            <a:ext cx="1188720" cy="118872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3"/>
          <p:cNvSpPr/>
          <p:nvPr/>
        </p:nvSpPr>
        <p:spPr>
          <a:xfrm>
            <a:off x="7315200" y="1097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Shape 4"/>
          <p:cNvSpPr/>
          <p:nvPr/>
        </p:nvSpPr>
        <p:spPr>
          <a:xfrm>
            <a:off x="7543800" y="1097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Shape 5"/>
          <p:cNvSpPr/>
          <p:nvPr/>
        </p:nvSpPr>
        <p:spPr>
          <a:xfrm>
            <a:off x="7772400" y="1097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6"/>
          <p:cNvSpPr/>
          <p:nvPr/>
        </p:nvSpPr>
        <p:spPr>
          <a:xfrm>
            <a:off x="8001000" y="1097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7"/>
          <p:cNvSpPr/>
          <p:nvPr/>
        </p:nvSpPr>
        <p:spPr>
          <a:xfrm>
            <a:off x="8229600" y="1097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8"/>
          <p:cNvSpPr/>
          <p:nvPr/>
        </p:nvSpPr>
        <p:spPr>
          <a:xfrm>
            <a:off x="8458200" y="1097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9"/>
          <p:cNvSpPr/>
          <p:nvPr/>
        </p:nvSpPr>
        <p:spPr>
          <a:xfrm>
            <a:off x="8686800" y="1097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10"/>
          <p:cNvSpPr/>
          <p:nvPr/>
        </p:nvSpPr>
        <p:spPr>
          <a:xfrm>
            <a:off x="7315200" y="3383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Shape 11"/>
          <p:cNvSpPr/>
          <p:nvPr/>
        </p:nvSpPr>
        <p:spPr>
          <a:xfrm>
            <a:off x="7543800" y="3383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Shape 12"/>
          <p:cNvSpPr/>
          <p:nvPr/>
        </p:nvSpPr>
        <p:spPr>
          <a:xfrm>
            <a:off x="7772400" y="3383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3"/>
          <p:cNvSpPr/>
          <p:nvPr/>
        </p:nvSpPr>
        <p:spPr>
          <a:xfrm>
            <a:off x="8001000" y="3383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4"/>
          <p:cNvSpPr/>
          <p:nvPr/>
        </p:nvSpPr>
        <p:spPr>
          <a:xfrm>
            <a:off x="8229600" y="3383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5"/>
          <p:cNvSpPr/>
          <p:nvPr/>
        </p:nvSpPr>
        <p:spPr>
          <a:xfrm>
            <a:off x="8458200" y="3383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6"/>
          <p:cNvSpPr/>
          <p:nvPr/>
        </p:nvSpPr>
        <p:spPr>
          <a:xfrm>
            <a:off x="8686800" y="3383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9" name="Shape 17"/>
          <p:cNvSpPr/>
          <p:nvPr/>
        </p:nvSpPr>
        <p:spPr>
          <a:xfrm>
            <a:off x="7315200" y="5669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0" name="Shape 18"/>
          <p:cNvSpPr/>
          <p:nvPr/>
        </p:nvSpPr>
        <p:spPr>
          <a:xfrm>
            <a:off x="7543800" y="5669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1" name="Shape 19"/>
          <p:cNvSpPr/>
          <p:nvPr/>
        </p:nvSpPr>
        <p:spPr>
          <a:xfrm>
            <a:off x="7772400" y="5669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Shape 20"/>
          <p:cNvSpPr/>
          <p:nvPr/>
        </p:nvSpPr>
        <p:spPr>
          <a:xfrm>
            <a:off x="8001000" y="5669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3" name="Shape 21"/>
          <p:cNvSpPr/>
          <p:nvPr/>
        </p:nvSpPr>
        <p:spPr>
          <a:xfrm>
            <a:off x="8229600" y="5669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Shape 22"/>
          <p:cNvSpPr/>
          <p:nvPr/>
        </p:nvSpPr>
        <p:spPr>
          <a:xfrm>
            <a:off x="8458200" y="5669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Shape 23"/>
          <p:cNvSpPr/>
          <p:nvPr/>
        </p:nvSpPr>
        <p:spPr>
          <a:xfrm>
            <a:off x="8686800" y="5669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6" name="Shape 24"/>
          <p:cNvSpPr/>
          <p:nvPr/>
        </p:nvSpPr>
        <p:spPr>
          <a:xfrm>
            <a:off x="7315200" y="7955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7" name="Shape 25"/>
          <p:cNvSpPr/>
          <p:nvPr/>
        </p:nvSpPr>
        <p:spPr>
          <a:xfrm>
            <a:off x="7543800" y="7955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8" name="Shape 26"/>
          <p:cNvSpPr/>
          <p:nvPr/>
        </p:nvSpPr>
        <p:spPr>
          <a:xfrm>
            <a:off x="7772400" y="7955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9" name="Shape 27"/>
          <p:cNvSpPr/>
          <p:nvPr/>
        </p:nvSpPr>
        <p:spPr>
          <a:xfrm>
            <a:off x="8001000" y="7955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Shape 28"/>
          <p:cNvSpPr/>
          <p:nvPr/>
        </p:nvSpPr>
        <p:spPr>
          <a:xfrm>
            <a:off x="8229600" y="7955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1" name="Shape 29"/>
          <p:cNvSpPr/>
          <p:nvPr/>
        </p:nvSpPr>
        <p:spPr>
          <a:xfrm>
            <a:off x="8458200" y="7955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2" name="Shape 30"/>
          <p:cNvSpPr/>
          <p:nvPr/>
        </p:nvSpPr>
        <p:spPr>
          <a:xfrm>
            <a:off x="8686800" y="7955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3" name="Shape 31"/>
          <p:cNvSpPr/>
          <p:nvPr/>
        </p:nvSpPr>
        <p:spPr>
          <a:xfrm>
            <a:off x="7315200" y="10241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4" name="Shape 32"/>
          <p:cNvSpPr/>
          <p:nvPr/>
        </p:nvSpPr>
        <p:spPr>
          <a:xfrm>
            <a:off x="7543800" y="10241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5" name="Shape 33"/>
          <p:cNvSpPr/>
          <p:nvPr/>
        </p:nvSpPr>
        <p:spPr>
          <a:xfrm>
            <a:off x="7772400" y="10241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6" name="Shape 34"/>
          <p:cNvSpPr/>
          <p:nvPr/>
        </p:nvSpPr>
        <p:spPr>
          <a:xfrm>
            <a:off x="8001000" y="10241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7" name="Shape 35"/>
          <p:cNvSpPr/>
          <p:nvPr/>
        </p:nvSpPr>
        <p:spPr>
          <a:xfrm>
            <a:off x="8229600" y="10241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8" name="Shape 36"/>
          <p:cNvSpPr/>
          <p:nvPr/>
        </p:nvSpPr>
        <p:spPr>
          <a:xfrm>
            <a:off x="8458200" y="10241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9" name="Shape 37"/>
          <p:cNvSpPr/>
          <p:nvPr/>
        </p:nvSpPr>
        <p:spPr>
          <a:xfrm>
            <a:off x="8686800" y="1024128"/>
            <a:ext cx="64008" cy="64008"/>
          </a:xfrm>
          <a:prstGeom prst="ellipse">
            <a:avLst/>
          </a:prstGeom>
          <a:solidFill>
            <a:srgbClr val="4A8070"/>
          </a:solidFill>
          <a:ln w="12700">
            <a:solidFill>
              <a:srgbClr val="4A807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8"/>
          <p:cNvSpPr/>
          <p:nvPr/>
        </p:nvSpPr>
        <p:spPr>
          <a:xfrm>
            <a:off x="1828800" y="36576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Team</a:t>
            </a:r>
            <a:endParaRPr lang="en-US" sz="3600" dirty="0"/>
          </a:p>
        </p:txBody>
      </p:sp>
      <p:sp>
        <p:nvSpPr>
          <p:cNvPr id="41" name="Shape 39"/>
          <p:cNvSpPr/>
          <p:nvPr/>
        </p:nvSpPr>
        <p:spPr>
          <a:xfrm>
            <a:off x="786384" y="1517904"/>
            <a:ext cx="1353312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517904"/>
            <a:ext cx="1353312" cy="1353312"/>
          </a:xfrm>
          <a:prstGeom prst="ellipse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640080" y="28986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 Clinton Jose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3465576" y="1517904"/>
            <a:ext cx="1353312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pic>
        <p:nvPicPr>
          <p:cNvPr id="4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576" y="1517904"/>
            <a:ext cx="1353312" cy="1353312"/>
          </a:xfrm>
          <a:prstGeom prst="ellipse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3319272" y="28986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Ankur Srivastava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6153912" y="1517904"/>
            <a:ext cx="1353312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pic>
        <p:nvPicPr>
          <p:cNvPr id="4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1517904"/>
            <a:ext cx="1353312" cy="1353312"/>
          </a:xfrm>
          <a:prstGeom prst="ellipse">
            <a:avLst/>
          </a:prstGeom>
        </p:spPr>
      </p:pic>
      <p:sp>
        <p:nvSpPr>
          <p:cNvPr id="49" name="Text 44"/>
          <p:cNvSpPr/>
          <p:nvPr/>
        </p:nvSpPr>
        <p:spPr>
          <a:xfrm>
            <a:off x="6007608" y="289864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Vishal Babu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786384" y="3163824"/>
            <a:ext cx="1353312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3163824"/>
            <a:ext cx="1353312" cy="1353312"/>
          </a:xfrm>
          <a:prstGeom prst="ellipse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640080" y="4544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 Sahu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3465576" y="3163824"/>
            <a:ext cx="1353312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pic>
        <p:nvPicPr>
          <p:cNvPr id="5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5576" y="3163824"/>
            <a:ext cx="1353312" cy="1353312"/>
          </a:xfrm>
          <a:prstGeom prst="ellipse">
            <a:avLst/>
          </a:prstGeom>
        </p:spPr>
      </p:pic>
      <p:sp>
        <p:nvSpPr>
          <p:cNvPr id="55" name="Text 48"/>
          <p:cNvSpPr/>
          <p:nvPr/>
        </p:nvSpPr>
        <p:spPr>
          <a:xfrm>
            <a:off x="3319272" y="4544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Lalukumar</a:t>
            </a:r>
            <a:endParaRPr lang="en-US" sz="1000" dirty="0"/>
          </a:p>
        </p:txBody>
      </p:sp>
      <p:sp>
        <p:nvSpPr>
          <p:cNvPr id="56" name="Shape 49"/>
          <p:cNvSpPr/>
          <p:nvPr/>
        </p:nvSpPr>
        <p:spPr>
          <a:xfrm>
            <a:off x="6153912" y="3163824"/>
            <a:ext cx="1353312" cy="13533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pic>
        <p:nvPicPr>
          <p:cNvPr id="5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912" y="3163824"/>
            <a:ext cx="1353312" cy="1353312"/>
          </a:xfrm>
          <a:prstGeom prst="ellipse">
            <a:avLst/>
          </a:prstGeom>
        </p:spPr>
      </p:pic>
      <p:sp>
        <p:nvSpPr>
          <p:cNvPr id="58" name="Text 50"/>
          <p:cNvSpPr/>
          <p:nvPr/>
        </p:nvSpPr>
        <p:spPr>
          <a:xfrm>
            <a:off x="6007608" y="4544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Manikanta Yemineni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-274320"/>
            <a:ext cx="5486400" cy="5760720"/>
          </a:xfrm>
          <a:prstGeom prst="ellipse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5303520" y="1280160"/>
            <a:ext cx="3200400" cy="2560320"/>
          </a:xfrm>
          <a:prstGeom prst="ellipse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457200" y="32004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808" y="123444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Objectives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173736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808" y="224028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B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Landscape &amp; Influencer Map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743200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74320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Mindset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808" y="324612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Model: B2B vs B2B2C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3749040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9808" y="374904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25603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5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OneVisage lacks visibility among cybersecurity practitioners, analysts, and opinion-shaping communities. The company must determine whether shifting from a purely indirect B2B2C model to a more active direct B2B branding strategy would deliver measurable ROI and support its growth trajectory.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938528"/>
            <a:ext cx="2743200" cy="2633472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Validation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OneVisage has secured strong technical validation for its 3D facial biometric authentication platform. Despite this, the company remains largely unknown within the broader cybersecurity ecosystem.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0" y="1938528"/>
            <a:ext cx="2743200" cy="2633472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Text 7"/>
          <p:cNvSpPr/>
          <p:nvPr/>
        </p:nvSpPr>
        <p:spPr>
          <a:xfrm>
            <a:off x="3337560" y="20299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B2B2C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237744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Historically, OneVisage has followed a B2B2C go-to-market model, relying on integrators and hardware OEMs to reach end customers.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0760" y="1938528"/>
            <a:ext cx="2743200" cy="2633472"/>
          </a:xfrm>
          <a:prstGeom prst="rect">
            <a:avLst/>
          </a:prstGeom>
          <a:solidFill>
            <a:srgbClr val="FFFFFF"/>
          </a:solidFill>
          <a:ln w="1016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/>
          <p:nvPr/>
        </p:nvSpPr>
        <p:spPr>
          <a:xfrm>
            <a:off x="6217920" y="20299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Question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377440"/>
            <a:ext cx="24688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9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leadership team is evaluating whether direct B2B branding within the cybersecurity community could accelerate adoption, unlock new partnership opportunities and help with generating measurable ROI.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0" y="4663440"/>
            <a:ext cx="9144000" cy="27432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371600"/>
            <a:ext cx="5303520" cy="5303520"/>
          </a:xfrm>
          <a:prstGeom prst="ellipse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5852160" y="-822960"/>
            <a:ext cx="4206240" cy="4206240"/>
          </a:xfrm>
          <a:prstGeom prst="ellipse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Text 3"/>
          <p:cNvSpPr/>
          <p:nvPr/>
        </p:nvSpPr>
        <p:spPr>
          <a:xfrm>
            <a:off x="228600" y="146304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F2D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28600" y="237744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Landscape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Influencer Map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28600" y="38404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market  ·  Regulatory bodies  ·  Analyst coverage  ·  Key events  ·  Influencer tiers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Text 7"/>
          <p:cNvSpPr/>
          <p:nvPr/>
        </p:nvSpPr>
        <p:spPr>
          <a:xfrm>
            <a:off x="274320" y="494690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OneVisage  ·  B2B Branding &amp; Market Positioning  ·  SKEMA Business School  ·  March 2026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8503920" y="494690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256032" cy="256032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274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FB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LANDSCAPE &amp; INFLUENCER MAP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Market Overview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103120" cy="84124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2103120" cy="36576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Text 7"/>
          <p:cNvSpPr/>
          <p:nvPr/>
        </p:nvSpPr>
        <p:spPr>
          <a:xfrm>
            <a:off x="365760" y="1280160"/>
            <a:ext cx="210312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€67B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722364"/>
            <a:ext cx="2103120" cy="31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European market 2025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65760" y="2203704"/>
            <a:ext cx="2103120" cy="84124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10"/>
          <p:cNvSpPr/>
          <p:nvPr/>
        </p:nvSpPr>
        <p:spPr>
          <a:xfrm>
            <a:off x="365760" y="2203704"/>
            <a:ext cx="2103120" cy="36576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Text 11"/>
          <p:cNvSpPr/>
          <p:nvPr/>
        </p:nvSpPr>
        <p:spPr>
          <a:xfrm>
            <a:off x="365760" y="2249424"/>
            <a:ext cx="210312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€172B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5760" y="2691628"/>
            <a:ext cx="2103120" cy="31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by 2033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3172968"/>
            <a:ext cx="2103120" cy="84124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4"/>
          <p:cNvSpPr/>
          <p:nvPr/>
        </p:nvSpPr>
        <p:spPr>
          <a:xfrm>
            <a:off x="365760" y="3172968"/>
            <a:ext cx="2103120" cy="36576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Text 15"/>
          <p:cNvSpPr/>
          <p:nvPr/>
        </p:nvSpPr>
        <p:spPr>
          <a:xfrm>
            <a:off x="365760" y="3218688"/>
            <a:ext cx="210312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5760" y="3660892"/>
            <a:ext cx="2103120" cy="319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9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2025–2033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1234440"/>
            <a:ext cx="6126480" cy="347472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0" name="Text 18"/>
          <p:cNvSpPr/>
          <p:nvPr/>
        </p:nvSpPr>
        <p:spPr>
          <a:xfrm>
            <a:off x="2743200" y="125272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40480" y="12527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Size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46320" y="1252728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0" y="1252728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Characteristics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651760" y="1581912"/>
            <a:ext cx="6126480" cy="457200"/>
          </a:xfrm>
          <a:prstGeom prst="rect">
            <a:avLst/>
          </a:prstGeom>
          <a:solidFill>
            <a:srgbClr val="D8EDD6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Shape 23"/>
          <p:cNvSpPr/>
          <p:nvPr/>
        </p:nvSpPr>
        <p:spPr>
          <a:xfrm>
            <a:off x="2651760" y="1581912"/>
            <a:ext cx="32004" cy="457200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6" name="Text 24"/>
          <p:cNvSpPr/>
          <p:nvPr/>
        </p:nvSpPr>
        <p:spPr>
          <a:xfrm>
            <a:off x="2743200" y="1627632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★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0" y="162763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$9.1B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62763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11.3%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0" y="162763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largest EU market — sovereignty-first culture. ANSSI-driven.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51760" y="2075688"/>
            <a:ext cx="6126480" cy="457200"/>
          </a:xfrm>
          <a:prstGeom prst="rect">
            <a:avLst/>
          </a:prstGeom>
          <a:solidFill>
            <a:srgbClr val="F2F2E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1" name="Text 29"/>
          <p:cNvSpPr/>
          <p:nvPr/>
        </p:nvSpPr>
        <p:spPr>
          <a:xfrm>
            <a:off x="2743200" y="2121408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Germany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840480" y="21214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€6.9B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46320" y="212140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5.5%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69280" y="21214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Privacy-centric; strong OT/ICS sector. BSI influence.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651760" y="2569464"/>
            <a:ext cx="61264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6" name="Text 34"/>
          <p:cNvSpPr/>
          <p:nvPr/>
        </p:nvSpPr>
        <p:spPr>
          <a:xfrm>
            <a:off x="2743200" y="2615184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840480" y="261518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€10.4B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46320" y="261518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6.3%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669280" y="261518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Cloud-native; fastest Zero Trust adopter.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651760" y="3063240"/>
            <a:ext cx="6126480" cy="457200"/>
          </a:xfrm>
          <a:prstGeom prst="rect">
            <a:avLst/>
          </a:prstGeom>
          <a:solidFill>
            <a:srgbClr val="F2F2E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1" name="Text 39"/>
          <p:cNvSpPr/>
          <p:nvPr/>
        </p:nvSpPr>
        <p:spPr>
          <a:xfrm>
            <a:off x="2743200" y="3108960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Netherlands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840480" y="3108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846320" y="310896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8%+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669280" y="31089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High-growth; EU co-funding accelerating.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651760" y="3557016"/>
            <a:ext cx="61264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6" name="Text 44"/>
          <p:cNvSpPr/>
          <p:nvPr/>
        </p:nvSpPr>
        <p:spPr>
          <a:xfrm>
            <a:off x="2743200" y="3602736"/>
            <a:ext cx="1051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Poland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840480" y="360273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46320" y="3602736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9%+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5669280" y="360273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Fastest-growing CEE market.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65760" y="4434840"/>
            <a:ext cx="8412480" cy="27432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1" name="Text 49"/>
          <p:cNvSpPr/>
          <p:nvPr/>
        </p:nvSpPr>
        <p:spPr>
          <a:xfrm>
            <a:off x="457200" y="445312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REGULATORY DRIVERS: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2240280" y="445312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NIS2 Directive (FR: Mar 2025)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3538728" y="445312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eIDAS 2.0 / EU Digital Wallet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837176" y="445312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EU AI Act (Biometrics = High Risk)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6135624" y="445312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DORA (Financial Sector)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434072" y="4453128"/>
            <a:ext cx="12618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A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Digital Europe €1.4B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8" name="Text 56"/>
          <p:cNvSpPr/>
          <p:nvPr/>
        </p:nvSpPr>
        <p:spPr>
          <a:xfrm>
            <a:off x="274320" y="494690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OneVisage  ·  B2B Branding &amp; Market Positioning  ·  SKEMA Business School  ·  March 2026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8503920" y="494690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256032" cy="256032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274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FB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LANDSCAPE &amp; INFLUENCER MAP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France: A Uniquely Favourable Market for OneVisage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743200" cy="338328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2743200" cy="36576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Text 7"/>
          <p:cNvSpPr/>
          <p:nvPr/>
        </p:nvSpPr>
        <p:spPr>
          <a:xfrm>
            <a:off x="502920" y="13533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France?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865376"/>
            <a:ext cx="54864" cy="256032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Text 9"/>
          <p:cNvSpPr/>
          <p:nvPr/>
        </p:nvSpPr>
        <p:spPr>
          <a:xfrm>
            <a:off x="685800" y="184708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tech preference favours European vendors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48640" y="2304288"/>
            <a:ext cx="54864" cy="256032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Text 11"/>
          <p:cNvSpPr/>
          <p:nvPr/>
        </p:nvSpPr>
        <p:spPr>
          <a:xfrm>
            <a:off x="685800" y="2286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$9.1B market growing to $15.5B by 2030 (11.3% CAGR)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54864" cy="256032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Text 13"/>
          <p:cNvSpPr/>
          <p:nvPr/>
        </p:nvSpPr>
        <p:spPr>
          <a:xfrm>
            <a:off x="685800" y="272491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NIS2 transposed March 2025 — buying wave starting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54864" cy="256032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Text 15"/>
          <p:cNvSpPr/>
          <p:nvPr/>
        </p:nvSpPr>
        <p:spPr>
          <a:xfrm>
            <a:off x="685800" y="3163824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Cyber hub = central networking node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48640" y="3621024"/>
            <a:ext cx="54864" cy="256032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9" name="Text 17"/>
          <p:cNvSpPr/>
          <p:nvPr/>
        </p:nvSpPr>
        <p:spPr>
          <a:xfrm>
            <a:off x="685800" y="3602736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2030 grants via Bpifrance / ANSSI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4059936"/>
            <a:ext cx="54864" cy="256032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1" name="Text 19"/>
          <p:cNvSpPr/>
          <p:nvPr/>
        </p:nvSpPr>
        <p:spPr>
          <a:xfrm>
            <a:off x="685800" y="404164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8D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ransomware target in EU — auth failures at root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91840" y="1234440"/>
            <a:ext cx="26974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3" name="Shape 21"/>
          <p:cNvSpPr/>
          <p:nvPr/>
        </p:nvSpPr>
        <p:spPr>
          <a:xfrm>
            <a:off x="3291840" y="1234440"/>
            <a:ext cx="32004" cy="1572768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Text 22"/>
          <p:cNvSpPr/>
          <p:nvPr/>
        </p:nvSpPr>
        <p:spPr>
          <a:xfrm>
            <a:off x="3383280" y="130759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 &amp; Growth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83280" y="154533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France: $9.1B (2025) → $15.5B (2030). 11.3% CAGR. Compliance spending = ~25% of cyber investment.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26480" y="1234440"/>
            <a:ext cx="26974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7" name="Shape 25"/>
          <p:cNvSpPr/>
          <p:nvPr/>
        </p:nvSpPr>
        <p:spPr>
          <a:xfrm>
            <a:off x="6126480" y="1234440"/>
            <a:ext cx="32004" cy="1572768"/>
          </a:xfrm>
          <a:prstGeom prst="rect">
            <a:avLst/>
          </a:prstGeom>
          <a:solidFill>
            <a:srgbClr val="C5A028"/>
          </a:solidFill>
          <a:ln w="12700">
            <a:solidFill>
              <a:srgbClr val="C5A028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8" name="Text 26"/>
          <p:cNvSpPr/>
          <p:nvPr/>
        </p:nvSpPr>
        <p:spPr>
          <a:xfrm>
            <a:off x="6217920" y="1307592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Culture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0" y="1545336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prefers European vendors and ANSSI-certified solutions. On-device 3D biometrics aligns with CNIL data minimisation doctrine.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91840" y="2944368"/>
            <a:ext cx="26974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1" name="Shape 29"/>
          <p:cNvSpPr/>
          <p:nvPr/>
        </p:nvSpPr>
        <p:spPr>
          <a:xfrm>
            <a:off x="3291840" y="2944368"/>
            <a:ext cx="32004" cy="1572768"/>
          </a:xfrm>
          <a:prstGeom prst="rect">
            <a:avLst/>
          </a:prstGeom>
          <a:solidFill>
            <a:srgbClr val="1C5247"/>
          </a:solidFill>
          <a:ln w="12700">
            <a:solidFill>
              <a:srgbClr val="1C524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2" name="Text 30"/>
          <p:cNvSpPr/>
          <p:nvPr/>
        </p:nvSpPr>
        <p:spPr>
          <a:xfrm>
            <a:off x="3383280" y="30175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Acceleration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383280" y="325526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NIS2 (Mar 2025) mandates auth upgrades for thousands of entities. eIDAS wallet by end-2026. DORA drives financial sector demand.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126480" y="2944368"/>
            <a:ext cx="2697480" cy="1572768"/>
          </a:xfrm>
          <a:prstGeom prst="rect">
            <a:avLst/>
          </a:prstGeom>
          <a:solidFill>
            <a:srgbClr val="FFFFFF"/>
          </a:solidFill>
          <a:ln w="635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5" name="Shape 33"/>
          <p:cNvSpPr/>
          <p:nvPr/>
        </p:nvSpPr>
        <p:spPr>
          <a:xfrm>
            <a:off x="6126480" y="2944368"/>
            <a:ext cx="32004" cy="1572768"/>
          </a:xfrm>
          <a:prstGeom prst="rect">
            <a:avLst/>
          </a:prstGeom>
          <a:solidFill>
            <a:srgbClr val="C04040"/>
          </a:solidFill>
          <a:ln w="12700">
            <a:solidFill>
              <a:srgbClr val="C0404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6" name="Text 34"/>
          <p:cNvSpPr/>
          <p:nvPr/>
        </p:nvSpPr>
        <p:spPr>
          <a:xfrm>
            <a:off x="6217920" y="3017520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Reality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17920" y="325526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ANSSI logged 1,366 incidents in 2025. Education 34%, Govt 24%, Health 10% — auth weaknesses cited in majority of ransomware cases.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9" name="Text 37"/>
          <p:cNvSpPr/>
          <p:nvPr/>
        </p:nvSpPr>
        <p:spPr>
          <a:xfrm>
            <a:off x="274320" y="494690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OneVisage  ·  B2B Branding &amp; Market Positioning  ·  SKEMA Business School  ·  March 2026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503920" y="494690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256032" cy="256032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274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FB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OPINION-SHAPING INSTITUTIONS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Bodies &amp; Analyst Coverage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8412480" cy="79552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32004" cy="795528"/>
          </a:xfrm>
          <a:prstGeom prst="rect">
            <a:avLst/>
          </a:prstGeom>
          <a:solidFill>
            <a:srgbClr val="C04040"/>
          </a:solidFill>
          <a:ln w="12700">
            <a:solidFill>
              <a:srgbClr val="C0404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7"/>
          <p:cNvSpPr/>
          <p:nvPr/>
        </p:nvSpPr>
        <p:spPr>
          <a:xfrm>
            <a:off x="438912" y="1371600"/>
            <a:ext cx="1005840" cy="329184"/>
          </a:xfrm>
          <a:prstGeom prst="rect">
            <a:avLst/>
          </a:prstGeom>
          <a:solidFill>
            <a:srgbClr val="C04040"/>
          </a:solidFill>
          <a:ln w="12700">
            <a:solidFill>
              <a:srgbClr val="C0404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Text 8"/>
          <p:cNvSpPr/>
          <p:nvPr/>
        </p:nvSpPr>
        <p:spPr>
          <a:xfrm>
            <a:off x="438912" y="13716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ANSSI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172821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C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· CRITICAL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572768" y="1289304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Campus Cyber hub. Controls SecNumCloud label — mandatory for Govt sales. Annual 'Panorama de la Cybermenace' sets CISO agenda. Vincent Strubel (DG) is France's most authoritative cyber voice.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897880" y="1289304"/>
            <a:ext cx="2834640" cy="685800"/>
          </a:xfrm>
          <a:prstGeom prst="rect">
            <a:avLst/>
          </a:prstGeom>
          <a:solidFill>
            <a:srgbClr val="EAF3EE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Text 12"/>
          <p:cNvSpPr/>
          <p:nvPr/>
        </p:nvSpPr>
        <p:spPr>
          <a:xfrm>
            <a:off x="5989320" y="1298448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Engagement: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989320" y="1472184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Cyber briefing · SecNumCloud certification · FIC panel alongside ANSSI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2112264"/>
            <a:ext cx="8412480" cy="795528"/>
          </a:xfrm>
          <a:prstGeom prst="rect">
            <a:avLst/>
          </a:prstGeom>
          <a:solidFill>
            <a:srgbClr val="F2F2E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5"/>
          <p:cNvSpPr/>
          <p:nvPr/>
        </p:nvSpPr>
        <p:spPr>
          <a:xfrm>
            <a:off x="365760" y="2112264"/>
            <a:ext cx="32004" cy="795528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6"/>
          <p:cNvSpPr/>
          <p:nvPr/>
        </p:nvSpPr>
        <p:spPr>
          <a:xfrm>
            <a:off x="438912" y="2249424"/>
            <a:ext cx="1005840" cy="329184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9" name="Text 17"/>
          <p:cNvSpPr/>
          <p:nvPr/>
        </p:nvSpPr>
        <p:spPr>
          <a:xfrm>
            <a:off x="438912" y="22494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ENISA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260604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· HIGH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572768" y="2167128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Endorses 'decentralised, on-device biometric models' as meeting GDPR + user expectations — direct validation of OneVisage's architecture. IAM interoperability framework rolling out 2025.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897880" y="2167128"/>
            <a:ext cx="2834640" cy="685800"/>
          </a:xfrm>
          <a:prstGeom prst="rect">
            <a:avLst/>
          </a:prstGeom>
          <a:solidFill>
            <a:srgbClr val="EAF3EE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3" name="Text 21"/>
          <p:cNvSpPr/>
          <p:nvPr/>
        </p:nvSpPr>
        <p:spPr>
          <a:xfrm>
            <a:off x="5989320" y="217627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Engagement: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989320" y="235000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ENISA consultations · cite in compliance docs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2990088"/>
            <a:ext cx="8412480" cy="79552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6" name="Shape 24"/>
          <p:cNvSpPr/>
          <p:nvPr/>
        </p:nvSpPr>
        <p:spPr>
          <a:xfrm>
            <a:off x="365760" y="2990088"/>
            <a:ext cx="32004" cy="795528"/>
          </a:xfrm>
          <a:prstGeom prst="rect">
            <a:avLst/>
          </a:prstGeom>
          <a:solidFill>
            <a:srgbClr val="7B4A9C"/>
          </a:solidFill>
          <a:ln w="12700">
            <a:solidFill>
              <a:srgbClr val="7B4A9C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7" name="Shape 25"/>
          <p:cNvSpPr/>
          <p:nvPr/>
        </p:nvSpPr>
        <p:spPr>
          <a:xfrm>
            <a:off x="438912" y="3127248"/>
            <a:ext cx="1005840" cy="329184"/>
          </a:xfrm>
          <a:prstGeom prst="rect">
            <a:avLst/>
          </a:prstGeom>
          <a:solidFill>
            <a:srgbClr val="7B4A9C"/>
          </a:solidFill>
          <a:ln w="12700">
            <a:solidFill>
              <a:srgbClr val="7B4A9C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8" name="Text 26"/>
          <p:cNvSpPr/>
          <p:nvPr/>
        </p:nvSpPr>
        <p:spPr>
          <a:xfrm>
            <a:off x="438912" y="31272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8912" y="348386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7B4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CRITICAL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572768" y="3044952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Quadrant for Access Management. Key analyst Akif Khan authored 'Innovation Insight for Biometrics'. Prediction: 30% of enterprises will distrust 2D face biometrics in isolation by 2026.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897880" y="3044952"/>
            <a:ext cx="2834640" cy="685800"/>
          </a:xfrm>
          <a:prstGeom prst="rect">
            <a:avLst/>
          </a:prstGeom>
          <a:solidFill>
            <a:srgbClr val="EAF3EE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2" name="Text 30"/>
          <p:cNvSpPr/>
          <p:nvPr/>
        </p:nvSpPr>
        <p:spPr>
          <a:xfrm>
            <a:off x="5989320" y="3054096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Engagement: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989320" y="3227832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briefing at Gartner IAM Summit · target Magic Quadrant inclusion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65760" y="3867912"/>
            <a:ext cx="8412480" cy="795528"/>
          </a:xfrm>
          <a:prstGeom prst="rect">
            <a:avLst/>
          </a:prstGeom>
          <a:solidFill>
            <a:srgbClr val="F2F2E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5" name="Shape 33"/>
          <p:cNvSpPr/>
          <p:nvPr/>
        </p:nvSpPr>
        <p:spPr>
          <a:xfrm>
            <a:off x="365760" y="3867912"/>
            <a:ext cx="32004" cy="795528"/>
          </a:xfrm>
          <a:prstGeom prst="rect">
            <a:avLst/>
          </a:prstGeom>
          <a:solidFill>
            <a:srgbClr val="8FB832"/>
          </a:solidFill>
          <a:ln w="12700">
            <a:solidFill>
              <a:srgbClr val="8FB83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6" name="Shape 34"/>
          <p:cNvSpPr/>
          <p:nvPr/>
        </p:nvSpPr>
        <p:spPr>
          <a:xfrm>
            <a:off x="438912" y="4005072"/>
            <a:ext cx="1005840" cy="329184"/>
          </a:xfrm>
          <a:prstGeom prst="rect">
            <a:avLst/>
          </a:prstGeom>
          <a:solidFill>
            <a:srgbClr val="8FB832"/>
          </a:solidFill>
          <a:ln w="12700">
            <a:solidFill>
              <a:srgbClr val="8FB83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7" name="Text 35"/>
          <p:cNvSpPr/>
          <p:nvPr/>
        </p:nvSpPr>
        <p:spPr>
          <a:xfrm>
            <a:off x="438912" y="40050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Forrester / IDC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" y="436168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FB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· HIGH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572768" y="3922776"/>
            <a:ext cx="4206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Forrester Wave: IAM — enterprise buyer influence. IDC MarketScape: Identity Verification in FinServ — accessible for startups, key for market sizing data in pitch decks.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897880" y="3922776"/>
            <a:ext cx="2834640" cy="685800"/>
          </a:xfrm>
          <a:prstGeom prst="rect">
            <a:avLst/>
          </a:prstGeom>
          <a:solidFill>
            <a:srgbClr val="EAF3EE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1" name="Text 39"/>
          <p:cNvSpPr/>
          <p:nvPr/>
        </p:nvSpPr>
        <p:spPr>
          <a:xfrm>
            <a:off x="5989320" y="393192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Engagement: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989320" y="410565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Forrester Security Forum (Nov) · Forrester Wave submission · IDC data for investor deck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4" name="Text 42"/>
          <p:cNvSpPr/>
          <p:nvPr/>
        </p:nvSpPr>
        <p:spPr>
          <a:xfrm>
            <a:off x="274320" y="494690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OneVisage  ·  B2B Branding &amp; Market Positioning  ·  SKEMA Business School  ·  March 2026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8503920" y="494690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256032" cy="256032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274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FB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COMMUNITIES &amp; MEDIA CHANNELS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Events &amp; Communities — France &amp; Europe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8412480" cy="548640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IMMEDIATE PRIORITY — FIC / INCYBER EUROPE 2026  ·  March 31–April 2, Lille Grand Palais  ·  ~25,000 attendees  ·  IN 11 DAYS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4160520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32004" cy="841248"/>
          </a:xfrm>
          <a:prstGeom prst="rect">
            <a:avLst/>
          </a:prstGeom>
          <a:solidFill>
            <a:srgbClr val="C04040"/>
          </a:solidFill>
          <a:ln w="12700">
            <a:solidFill>
              <a:srgbClr val="C0404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Shape 9"/>
          <p:cNvSpPr/>
          <p:nvPr/>
        </p:nvSpPr>
        <p:spPr>
          <a:xfrm>
            <a:off x="457200" y="2066544"/>
            <a:ext cx="658368" cy="201168"/>
          </a:xfrm>
          <a:prstGeom prst="rect">
            <a:avLst/>
          </a:prstGeom>
          <a:solidFill>
            <a:srgbClr val="C04040"/>
          </a:solidFill>
          <a:ln w="12700">
            <a:solidFill>
              <a:srgbClr val="C0404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/>
          <p:nvPr/>
        </p:nvSpPr>
        <p:spPr>
          <a:xfrm>
            <a:off x="457200" y="20665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188720" y="19751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IAM Summit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88720" y="226771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June·USA / Sept·UK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188720" y="248716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MQ analyst access. 4,500 decision-makers.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09160" y="1920240"/>
            <a:ext cx="4160520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5"/>
          <p:cNvSpPr/>
          <p:nvPr/>
        </p:nvSpPr>
        <p:spPr>
          <a:xfrm>
            <a:off x="4709160" y="1920240"/>
            <a:ext cx="32004" cy="841248"/>
          </a:xfrm>
          <a:prstGeom prst="rect">
            <a:avLst/>
          </a:prstGeom>
          <a:solidFill>
            <a:srgbClr val="C04040"/>
          </a:solidFill>
          <a:ln w="12700">
            <a:solidFill>
              <a:srgbClr val="C0404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6"/>
          <p:cNvSpPr/>
          <p:nvPr/>
        </p:nvSpPr>
        <p:spPr>
          <a:xfrm>
            <a:off x="4800600" y="2066544"/>
            <a:ext cx="658368" cy="201168"/>
          </a:xfrm>
          <a:prstGeom prst="rect">
            <a:avLst/>
          </a:prstGeom>
          <a:solidFill>
            <a:srgbClr val="C04040"/>
          </a:solidFill>
          <a:ln w="12700">
            <a:solidFill>
              <a:srgbClr val="C0404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9" name="Text 17"/>
          <p:cNvSpPr/>
          <p:nvPr/>
        </p:nvSpPr>
        <p:spPr>
          <a:xfrm>
            <a:off x="4800600" y="206654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5532120" y="19751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Conference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32120" y="226771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23–26·SF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32120" y="248716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44,000 attendees. IAM/identity tracks. CISO audience.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65760" y="2880360"/>
            <a:ext cx="4160520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Shape 22"/>
          <p:cNvSpPr/>
          <p:nvPr/>
        </p:nvSpPr>
        <p:spPr>
          <a:xfrm>
            <a:off x="365760" y="2880360"/>
            <a:ext cx="32004" cy="841248"/>
          </a:xfrm>
          <a:prstGeom prst="rect">
            <a:avLst/>
          </a:prstGeom>
          <a:solidFill>
            <a:srgbClr val="C04040"/>
          </a:solidFill>
          <a:ln w="12700">
            <a:solidFill>
              <a:srgbClr val="C0404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Shape 23"/>
          <p:cNvSpPr/>
          <p:nvPr/>
        </p:nvSpPr>
        <p:spPr>
          <a:xfrm>
            <a:off x="457200" y="3026664"/>
            <a:ext cx="658368" cy="201168"/>
          </a:xfrm>
          <a:prstGeom prst="rect">
            <a:avLst/>
          </a:prstGeom>
          <a:solidFill>
            <a:srgbClr val="C04040"/>
          </a:solidFill>
          <a:ln w="12700">
            <a:solidFill>
              <a:srgbClr val="C0404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6" name="Text 24"/>
          <p:cNvSpPr/>
          <p:nvPr/>
        </p:nvSpPr>
        <p:spPr>
          <a:xfrm>
            <a:off x="457200" y="30266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1188720" y="29352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(FIDO)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88720" y="322783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Annual·USA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88720" y="344728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biometric/passkey focus. Liveness detection buyers.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09160" y="2880360"/>
            <a:ext cx="4160520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1" name="Shape 29"/>
          <p:cNvSpPr/>
          <p:nvPr/>
        </p:nvSpPr>
        <p:spPr>
          <a:xfrm>
            <a:off x="4709160" y="2880360"/>
            <a:ext cx="32004" cy="841248"/>
          </a:xfrm>
          <a:prstGeom prst="rect">
            <a:avLst/>
          </a:prstGeom>
          <a:solidFill>
            <a:srgbClr val="C5A028"/>
          </a:solidFill>
          <a:ln w="12700">
            <a:solidFill>
              <a:srgbClr val="C5A028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2" name="Shape 30"/>
          <p:cNvSpPr/>
          <p:nvPr/>
        </p:nvSpPr>
        <p:spPr>
          <a:xfrm>
            <a:off x="4800600" y="3026664"/>
            <a:ext cx="658368" cy="201168"/>
          </a:xfrm>
          <a:prstGeom prst="rect">
            <a:avLst/>
          </a:prstGeom>
          <a:solidFill>
            <a:srgbClr val="C5A028"/>
          </a:solidFill>
          <a:ln w="12700">
            <a:solidFill>
              <a:srgbClr val="C5A028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3" name="Text 31"/>
          <p:cNvSpPr/>
          <p:nvPr/>
        </p:nvSpPr>
        <p:spPr>
          <a:xfrm>
            <a:off x="4800600" y="30266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5532120" y="29352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Infosecurity Europe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32120" y="322783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Annual·London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32120" y="344728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European CISO + IT buyer. Free expo access.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3840480"/>
            <a:ext cx="4160520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8" name="Shape 36"/>
          <p:cNvSpPr/>
          <p:nvPr/>
        </p:nvSpPr>
        <p:spPr>
          <a:xfrm>
            <a:off x="365760" y="3840480"/>
            <a:ext cx="32004" cy="841248"/>
          </a:xfrm>
          <a:prstGeom prst="rect">
            <a:avLst/>
          </a:prstGeom>
          <a:solidFill>
            <a:srgbClr val="C5A028"/>
          </a:solidFill>
          <a:ln w="12700">
            <a:solidFill>
              <a:srgbClr val="C5A028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9" name="Shape 37"/>
          <p:cNvSpPr/>
          <p:nvPr/>
        </p:nvSpPr>
        <p:spPr>
          <a:xfrm>
            <a:off x="457200" y="3986784"/>
            <a:ext cx="658368" cy="201168"/>
          </a:xfrm>
          <a:prstGeom prst="rect">
            <a:avLst/>
          </a:prstGeom>
          <a:solidFill>
            <a:srgbClr val="C5A028"/>
          </a:solidFill>
          <a:ln w="12700">
            <a:solidFill>
              <a:srgbClr val="C5A028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8"/>
          <p:cNvSpPr/>
          <p:nvPr/>
        </p:nvSpPr>
        <p:spPr>
          <a:xfrm>
            <a:off x="457200" y="39867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1188720" y="38953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 Biometrics Symposium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88720" y="418795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Annual·DC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188720" y="440740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+ industry biometrics. Women in Biometrics.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709160" y="3840480"/>
            <a:ext cx="4160520" cy="84124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5" name="Shape 43"/>
          <p:cNvSpPr/>
          <p:nvPr/>
        </p:nvSpPr>
        <p:spPr>
          <a:xfrm>
            <a:off x="4709160" y="3840480"/>
            <a:ext cx="32004" cy="841248"/>
          </a:xfrm>
          <a:prstGeom prst="rect">
            <a:avLst/>
          </a:prstGeom>
          <a:solidFill>
            <a:srgbClr val="C5A028"/>
          </a:solidFill>
          <a:ln w="12700">
            <a:solidFill>
              <a:srgbClr val="C5A028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6" name="Shape 44"/>
          <p:cNvSpPr/>
          <p:nvPr/>
        </p:nvSpPr>
        <p:spPr>
          <a:xfrm>
            <a:off x="4800600" y="3986784"/>
            <a:ext cx="658368" cy="201168"/>
          </a:xfrm>
          <a:prstGeom prst="rect">
            <a:avLst/>
          </a:prstGeom>
          <a:solidFill>
            <a:srgbClr val="C5A028"/>
          </a:solidFill>
          <a:ln w="12700">
            <a:solidFill>
              <a:srgbClr val="C5A028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7" name="Text 45"/>
          <p:cNvSpPr/>
          <p:nvPr/>
        </p:nvSpPr>
        <p:spPr>
          <a:xfrm>
            <a:off x="4800600" y="39867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532120" y="38953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&amp; Cloud Expo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32120" y="4187952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May·London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532120" y="440740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9,000+ CTOs and IT Directors.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65760" y="4754880"/>
            <a:ext cx="8412480" cy="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2" name="Shape 5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3" name="Text 51"/>
          <p:cNvSpPr/>
          <p:nvPr/>
        </p:nvSpPr>
        <p:spPr>
          <a:xfrm>
            <a:off x="274320" y="494690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OneVisage  ·  B2B Branding &amp; Market Positioning  ·  SKEMA Business School  ·  March 2026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503920" y="494690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256032" cy="256032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274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FB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&amp; THOUGHT-LEADER MAP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Map — 3 Tiers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2788920" cy="274320"/>
          </a:xfrm>
          <a:prstGeom prst="rect">
            <a:avLst/>
          </a:prstGeom>
          <a:solidFill>
            <a:srgbClr val="C04040"/>
          </a:solidFill>
          <a:ln w="12700">
            <a:solidFill>
              <a:srgbClr val="C0404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Text 6"/>
          <p:cNvSpPr/>
          <p:nvPr/>
        </p:nvSpPr>
        <p:spPr>
          <a:xfrm>
            <a:off x="420624" y="1225296"/>
            <a:ext cx="2679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Institutional Authorities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65760" y="1517904"/>
            <a:ext cx="278892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Vincent Strubel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65960" y="15544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DG, ANSSI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7200" y="17922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France's top cyber voice. Campus Cyber briefing.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5760" y="2185416"/>
            <a:ext cx="2788920" cy="594360"/>
          </a:xfrm>
          <a:prstGeom prst="rect">
            <a:avLst/>
          </a:prstGeom>
          <a:solidFill>
            <a:srgbClr val="F2F2E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Text 12"/>
          <p:cNvSpPr/>
          <p:nvPr/>
        </p:nvSpPr>
        <p:spPr>
          <a:xfrm>
            <a:off x="457200" y="2221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Akif Khan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65960" y="22219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Analyst, Gartner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" y="245973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Authored biometric deepfake prediction. Request briefing.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852928"/>
            <a:ext cx="278892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Text 16"/>
          <p:cNvSpPr/>
          <p:nvPr/>
        </p:nvSpPr>
        <p:spPr>
          <a:xfrm>
            <a:off x="457200" y="288950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CESIN Board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65960" y="28895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CISOs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7200" y="31272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roundtable. 300+ CISO peer audience.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2788920" cy="594360"/>
          </a:xfrm>
          <a:prstGeom prst="rect">
            <a:avLst/>
          </a:prstGeom>
          <a:solidFill>
            <a:srgbClr val="F2F2E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20"/>
          <p:cNvSpPr/>
          <p:nvPr/>
        </p:nvSpPr>
        <p:spPr>
          <a:xfrm>
            <a:off x="457200" y="355701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FIDO Alliance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65960" y="355701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Body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57200" y="37947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group membership = OEM credibility signal.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4187952"/>
            <a:ext cx="278892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6" name="Text 24"/>
          <p:cNvSpPr/>
          <p:nvPr/>
        </p:nvSpPr>
        <p:spPr>
          <a:xfrm>
            <a:off x="457200" y="4224528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Biometrics Institute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65960" y="4224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7200" y="446227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Co-authored white paper on AI + synthetic identity.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91840" y="1207008"/>
            <a:ext cx="2788920" cy="274320"/>
          </a:xfrm>
          <a:prstGeom prst="rect">
            <a:avLst/>
          </a:prstGeom>
          <a:solidFill>
            <a:srgbClr val="C5A028"/>
          </a:solidFill>
          <a:ln w="12700">
            <a:solidFill>
              <a:srgbClr val="C5A028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Text 28"/>
          <p:cNvSpPr/>
          <p:nvPr/>
        </p:nvSpPr>
        <p:spPr>
          <a:xfrm>
            <a:off x="3346704" y="1225296"/>
            <a:ext cx="2679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Analyst &amp; Media Voices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291840" y="1517904"/>
            <a:ext cx="278892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2" name="Text 30"/>
          <p:cNvSpPr/>
          <p:nvPr/>
        </p:nvSpPr>
        <p:spPr>
          <a:xfrm>
            <a:off x="3383280" y="15544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 Peer Insights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92040" y="15544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Platform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383280" y="17922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customer reviews to amplify credibility.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91840" y="2185416"/>
            <a:ext cx="2788920" cy="594360"/>
          </a:xfrm>
          <a:prstGeom prst="rect">
            <a:avLst/>
          </a:prstGeom>
          <a:solidFill>
            <a:srgbClr val="F2F2E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6" name="Text 34"/>
          <p:cNvSpPr/>
          <p:nvPr/>
        </p:nvSpPr>
        <p:spPr>
          <a:xfrm>
            <a:off x="3383280" y="2221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Reading editors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92040" y="22219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Media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83280" y="245973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Bylined CTO article on 3D vs deepfakes. 500K+ reach.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291840" y="2852928"/>
            <a:ext cx="278892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8"/>
          <p:cNvSpPr/>
          <p:nvPr/>
        </p:nvSpPr>
        <p:spPr>
          <a:xfrm>
            <a:off x="3383280" y="288950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Update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92040" y="28895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Media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383280" y="31272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release every milestone. Daily buyer readership.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91840" y="3520440"/>
            <a:ext cx="2788920" cy="594360"/>
          </a:xfrm>
          <a:prstGeom prst="rect">
            <a:avLst/>
          </a:prstGeom>
          <a:solidFill>
            <a:srgbClr val="F2F2E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4" name="Text 42"/>
          <p:cNvSpPr/>
          <p:nvPr/>
        </p:nvSpPr>
        <p:spPr>
          <a:xfrm>
            <a:off x="3383280" y="355701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L'Usine Digitale / GSM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92040" y="355701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Press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383280" y="37947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French-language content reaching digital leaders.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217920" y="1207008"/>
            <a:ext cx="2788920" cy="274320"/>
          </a:xfrm>
          <a:prstGeom prst="rect">
            <a:avLst/>
          </a:prstGeom>
          <a:solidFill>
            <a:srgbClr val="8FB832"/>
          </a:solidFill>
          <a:ln w="12700">
            <a:solidFill>
              <a:srgbClr val="8FB83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8" name="Text 46"/>
          <p:cNvSpPr/>
          <p:nvPr/>
        </p:nvSpPr>
        <p:spPr>
          <a:xfrm>
            <a:off x="6272784" y="1225296"/>
            <a:ext cx="2679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Practitioner Influencers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217920" y="1517904"/>
            <a:ext cx="278892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0" name="Text 48"/>
          <p:cNvSpPr/>
          <p:nvPr/>
        </p:nvSpPr>
        <p:spPr>
          <a:xfrm>
            <a:off x="6309360" y="1554480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CISOs — LinkedIn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818120" y="155448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Practitioners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309360" y="179222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Co-authored case study = highest-credibility content.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217920" y="2185416"/>
            <a:ext cx="2788920" cy="594360"/>
          </a:xfrm>
          <a:prstGeom prst="rect">
            <a:avLst/>
          </a:prstGeom>
          <a:solidFill>
            <a:srgbClr val="F2F2E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4" name="Text 52"/>
          <p:cNvSpPr/>
          <p:nvPr/>
        </p:nvSpPr>
        <p:spPr>
          <a:xfrm>
            <a:off x="6309360" y="222199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INRIA / Polytechnique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18120" y="222199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6309360" y="2459736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Co-authored research paper. Academic validation.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217920" y="2852928"/>
            <a:ext cx="2788920" cy="594360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8" name="Text 56"/>
          <p:cNvSpPr/>
          <p:nvPr/>
        </p:nvSpPr>
        <p:spPr>
          <a:xfrm>
            <a:off x="6309360" y="2889504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ISACA France chapter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818120" y="288950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6309360" y="3127248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webinar: 'Biometrics in the Age of Deepfakes'.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217920" y="3520440"/>
            <a:ext cx="2788920" cy="594360"/>
          </a:xfrm>
          <a:prstGeom prst="rect">
            <a:avLst/>
          </a:prstGeom>
          <a:solidFill>
            <a:srgbClr val="F2F2E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2" name="Text 60"/>
          <p:cNvSpPr/>
          <p:nvPr/>
        </p:nvSpPr>
        <p:spPr>
          <a:xfrm>
            <a:off x="6309360" y="3557016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pre-sales engineers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818120" y="3557016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Integrators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6309360" y="37947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Thales, Atos, Orange Cyber. SDK + technical briefings.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66" name="Text 64"/>
          <p:cNvSpPr/>
          <p:nvPr/>
        </p:nvSpPr>
        <p:spPr>
          <a:xfrm>
            <a:off x="274320" y="494690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OneVisage  ·  B2B Branding &amp; Market Positioning  ·  SKEMA Business School  ·  March 2026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8503920" y="494690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256032" cy="256032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274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FB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MINDSET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Cyber Community Views Biometric Authentication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4160520" cy="166420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Shape 6"/>
          <p:cNvSpPr/>
          <p:nvPr/>
        </p:nvSpPr>
        <p:spPr>
          <a:xfrm>
            <a:off x="365760" y="1207008"/>
            <a:ext cx="4160520" cy="36576"/>
          </a:xfrm>
          <a:prstGeom prst="rect">
            <a:avLst/>
          </a:prstGeom>
          <a:solidFill>
            <a:srgbClr val="C04040"/>
          </a:solidFill>
          <a:ln w="12700">
            <a:solidFill>
              <a:srgbClr val="C0404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9" name="Shape 7"/>
          <p:cNvSpPr/>
          <p:nvPr/>
        </p:nvSpPr>
        <p:spPr>
          <a:xfrm>
            <a:off x="365760" y="1243584"/>
            <a:ext cx="384048" cy="1627632"/>
          </a:xfrm>
          <a:prstGeom prst="rect">
            <a:avLst/>
          </a:prstGeom>
          <a:solidFill>
            <a:srgbClr val="C04040"/>
          </a:solidFill>
          <a:ln w="12700">
            <a:solidFill>
              <a:srgbClr val="C0404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Text 8"/>
          <p:cNvSpPr/>
          <p:nvPr/>
        </p:nvSpPr>
        <p:spPr>
          <a:xfrm>
            <a:off x="365760" y="1243584"/>
            <a:ext cx="38404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41248" y="129844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Deepfakes Eroding 2D Biometric Trust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41248" y="16459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Gartner: 30% of enterprises will distrust 2D face biometrics in isolation by 2026. Biometric attacks up 31% in 2025. Injection attacks up 200% since 2023.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41248" y="2596896"/>
            <a:ext cx="1371600" cy="201168"/>
          </a:xfrm>
          <a:prstGeom prst="rect">
            <a:avLst/>
          </a:prstGeom>
          <a:solidFill>
            <a:srgbClr val="C04040"/>
          </a:solidFill>
          <a:ln w="12700">
            <a:solidFill>
              <a:srgbClr val="C0404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4" name="Text 12"/>
          <p:cNvSpPr/>
          <p:nvPr/>
        </p:nvSpPr>
        <p:spPr>
          <a:xfrm>
            <a:off x="841248" y="2596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ONEVISAGE OPPORTUNITY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4709160" y="1207008"/>
            <a:ext cx="4160520" cy="166420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Shape 14"/>
          <p:cNvSpPr/>
          <p:nvPr/>
        </p:nvSpPr>
        <p:spPr>
          <a:xfrm>
            <a:off x="4709160" y="1207008"/>
            <a:ext cx="4160520" cy="36576"/>
          </a:xfrm>
          <a:prstGeom prst="rect">
            <a:avLst/>
          </a:prstGeom>
          <a:solidFill>
            <a:srgbClr val="C5A028"/>
          </a:solidFill>
          <a:ln w="12700">
            <a:solidFill>
              <a:srgbClr val="C5A028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7" name="Shape 15"/>
          <p:cNvSpPr/>
          <p:nvPr/>
        </p:nvSpPr>
        <p:spPr>
          <a:xfrm>
            <a:off x="4709160" y="1243584"/>
            <a:ext cx="384048" cy="1627632"/>
          </a:xfrm>
          <a:prstGeom prst="rect">
            <a:avLst/>
          </a:prstGeom>
          <a:solidFill>
            <a:srgbClr val="C5A028"/>
          </a:solidFill>
          <a:ln w="12700">
            <a:solidFill>
              <a:srgbClr val="C5A028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Text 16"/>
          <p:cNvSpPr/>
          <p:nvPr/>
        </p:nvSpPr>
        <p:spPr>
          <a:xfrm>
            <a:off x="4709160" y="1243584"/>
            <a:ext cx="38404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184648" y="129844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MFA Being Deprecated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84648" y="16459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of large enterprises phasing out password-only auth by 2025. SMS OTP widely insufficient. Market actively evaluating next-gen strong authentication.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184648" y="2596896"/>
            <a:ext cx="1371600" cy="201168"/>
          </a:xfrm>
          <a:prstGeom prst="rect">
            <a:avLst/>
          </a:prstGeom>
          <a:solidFill>
            <a:srgbClr val="C5A028"/>
          </a:solidFill>
          <a:ln w="12700">
            <a:solidFill>
              <a:srgbClr val="C5A028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20"/>
          <p:cNvSpPr/>
          <p:nvPr/>
        </p:nvSpPr>
        <p:spPr>
          <a:xfrm>
            <a:off x="5184648" y="25968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URGENCY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65760" y="3035808"/>
            <a:ext cx="4160520" cy="166420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Shape 22"/>
          <p:cNvSpPr/>
          <p:nvPr/>
        </p:nvSpPr>
        <p:spPr>
          <a:xfrm>
            <a:off x="365760" y="3035808"/>
            <a:ext cx="4160520" cy="36576"/>
          </a:xfrm>
          <a:prstGeom prst="rect">
            <a:avLst/>
          </a:prstGeom>
          <a:solidFill>
            <a:srgbClr val="1C5247"/>
          </a:solidFill>
          <a:ln w="12700">
            <a:solidFill>
              <a:srgbClr val="1C524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Shape 23"/>
          <p:cNvSpPr/>
          <p:nvPr/>
        </p:nvSpPr>
        <p:spPr>
          <a:xfrm>
            <a:off x="365760" y="3072384"/>
            <a:ext cx="384048" cy="1627632"/>
          </a:xfrm>
          <a:prstGeom prst="rect">
            <a:avLst/>
          </a:prstGeom>
          <a:solidFill>
            <a:srgbClr val="1C5247"/>
          </a:solidFill>
          <a:ln w="12700">
            <a:solidFill>
              <a:srgbClr val="1C524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6" name="Text 24"/>
          <p:cNvSpPr/>
          <p:nvPr/>
        </p:nvSpPr>
        <p:spPr>
          <a:xfrm>
            <a:off x="365760" y="3072384"/>
            <a:ext cx="38404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41248" y="312724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Biometrics Mandated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41248" y="34747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+ EU AI Act push buyers toward on-device models. ENISA endorses decentralised biometrics. Directly validates OneVisage's edge-processing architecture.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41248" y="4425696"/>
            <a:ext cx="1371600" cy="201168"/>
          </a:xfrm>
          <a:prstGeom prst="rect">
            <a:avLst/>
          </a:prstGeom>
          <a:solidFill>
            <a:srgbClr val="1C5247"/>
          </a:solidFill>
          <a:ln w="12700">
            <a:solidFill>
              <a:srgbClr val="1C5247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Text 28"/>
          <p:cNvSpPr/>
          <p:nvPr/>
        </p:nvSpPr>
        <p:spPr>
          <a:xfrm>
            <a:off x="841248" y="44256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TAILWIND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4709160" y="3035808"/>
            <a:ext cx="4160520" cy="1664208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2" name="Shape 30"/>
          <p:cNvSpPr/>
          <p:nvPr/>
        </p:nvSpPr>
        <p:spPr>
          <a:xfrm>
            <a:off x="4709160" y="3035808"/>
            <a:ext cx="4160520" cy="36576"/>
          </a:xfrm>
          <a:prstGeom prst="rect">
            <a:avLst/>
          </a:prstGeom>
          <a:solidFill>
            <a:srgbClr val="8FB832"/>
          </a:solidFill>
          <a:ln w="12700">
            <a:solidFill>
              <a:srgbClr val="8FB83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3" name="Shape 31"/>
          <p:cNvSpPr/>
          <p:nvPr/>
        </p:nvSpPr>
        <p:spPr>
          <a:xfrm>
            <a:off x="4709160" y="3072384"/>
            <a:ext cx="384048" cy="1627632"/>
          </a:xfrm>
          <a:prstGeom prst="rect">
            <a:avLst/>
          </a:prstGeom>
          <a:solidFill>
            <a:srgbClr val="8FB832"/>
          </a:solidFill>
          <a:ln w="12700">
            <a:solidFill>
              <a:srgbClr val="8FB83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4" name="Text 32"/>
          <p:cNvSpPr/>
          <p:nvPr/>
        </p:nvSpPr>
        <p:spPr>
          <a:xfrm>
            <a:off x="4709160" y="3072384"/>
            <a:ext cx="38404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184648" y="3127248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Liveness as Emerging Standard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184648" y="34747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facial mapping now recognised as the only architecture reliably resistant to deepfake injection attacks. Liveness detection cited as the key differentiator across analyst reports.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184648" y="4425696"/>
            <a:ext cx="1371600" cy="201168"/>
          </a:xfrm>
          <a:prstGeom prst="rect">
            <a:avLst/>
          </a:prstGeom>
          <a:solidFill>
            <a:srgbClr val="8FB832"/>
          </a:solidFill>
          <a:ln w="12700">
            <a:solidFill>
              <a:srgbClr val="8FB832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8" name="Text 36"/>
          <p:cNvSpPr/>
          <p:nvPr/>
        </p:nvSpPr>
        <p:spPr>
          <a:xfrm>
            <a:off x="5184648" y="44256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VALIDATION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8"/>
          <p:cNvSpPr/>
          <p:nvPr/>
        </p:nvSpPr>
        <p:spPr>
          <a:xfrm>
            <a:off x="274320" y="494690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OneVisage  ·  B2B Branding &amp; Market Positioning  ·  SKEMA Business School  ·  March 2026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8503920" y="494690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256032" cy="256032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27432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FB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MODEL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B2B Branding vs. B2B2C — Strategic Comparison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207008"/>
            <a:ext cx="4114800" cy="329184"/>
          </a:xfrm>
          <a:prstGeom prst="rect">
            <a:avLst/>
          </a:prstGeom>
          <a:solidFill>
            <a:srgbClr val="3D5C50"/>
          </a:solidFill>
          <a:ln w="12700">
            <a:solidFill>
              <a:srgbClr val="3D5C5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8" name="Text 6"/>
          <p:cNvSpPr/>
          <p:nvPr/>
        </p:nvSpPr>
        <p:spPr>
          <a:xfrm>
            <a:off x="457200" y="122529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QUO: B2B2C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207008"/>
            <a:ext cx="4114800" cy="329184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Text 8"/>
          <p:cNvSpPr/>
          <p:nvPr/>
        </p:nvSpPr>
        <p:spPr>
          <a:xfrm>
            <a:off x="4709160" y="122529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B2B BRANDING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84124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Shape 10"/>
          <p:cNvSpPr/>
          <p:nvPr/>
        </p:nvSpPr>
        <p:spPr>
          <a:xfrm>
            <a:off x="365760" y="1572768"/>
            <a:ext cx="1508760" cy="457200"/>
          </a:xfrm>
          <a:prstGeom prst="rect">
            <a:avLst/>
          </a:prstGeom>
          <a:solidFill>
            <a:srgbClr val="D8EDD6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Text 11"/>
          <p:cNvSpPr/>
          <p:nvPr/>
        </p:nvSpPr>
        <p:spPr>
          <a:xfrm>
            <a:off x="457200" y="16184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market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65960" y="161848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OEM integrators &amp; hardware partners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1572768"/>
            <a:ext cx="32004" cy="457200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6" name="Text 14"/>
          <p:cNvSpPr/>
          <p:nvPr/>
        </p:nvSpPr>
        <p:spPr>
          <a:xfrm>
            <a:off x="4681728" y="1618488"/>
            <a:ext cx="4005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engagement with CISOs, IAM architects, IT buyers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075688"/>
            <a:ext cx="8412480" cy="457200"/>
          </a:xfrm>
          <a:prstGeom prst="rect">
            <a:avLst/>
          </a:prstGeom>
          <a:solidFill>
            <a:srgbClr val="F2F2E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Shape 16"/>
          <p:cNvSpPr/>
          <p:nvPr/>
        </p:nvSpPr>
        <p:spPr>
          <a:xfrm>
            <a:off x="365760" y="2075688"/>
            <a:ext cx="1508760" cy="457200"/>
          </a:xfrm>
          <a:prstGeom prst="rect">
            <a:avLst/>
          </a:prstGeom>
          <a:solidFill>
            <a:srgbClr val="D8EDD6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9" name="Text 17"/>
          <p:cNvSpPr/>
          <p:nvPr/>
        </p:nvSpPr>
        <p:spPr>
          <a:xfrm>
            <a:off x="457200" y="212140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awareness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65960" y="212140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OneVisage invisible to end buyers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2075688"/>
            <a:ext cx="32004" cy="457200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20"/>
          <p:cNvSpPr/>
          <p:nvPr/>
        </p:nvSpPr>
        <p:spPr>
          <a:xfrm>
            <a:off x="4681728" y="2121408"/>
            <a:ext cx="4005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name recognition in buying committees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" y="2578608"/>
            <a:ext cx="84124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4" name="Shape 22"/>
          <p:cNvSpPr/>
          <p:nvPr/>
        </p:nvSpPr>
        <p:spPr>
          <a:xfrm>
            <a:off x="365760" y="2578608"/>
            <a:ext cx="1508760" cy="457200"/>
          </a:xfrm>
          <a:prstGeom prst="rect">
            <a:avLst/>
          </a:prstGeom>
          <a:solidFill>
            <a:srgbClr val="D8EDD6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Text 23"/>
          <p:cNvSpPr/>
          <p:nvPr/>
        </p:nvSpPr>
        <p:spPr>
          <a:xfrm>
            <a:off x="457200" y="26243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cycle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65960" y="262432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Long; dependent on partner motivation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0" y="2578608"/>
            <a:ext cx="32004" cy="457200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8" name="Text 26"/>
          <p:cNvSpPr/>
          <p:nvPr/>
        </p:nvSpPr>
        <p:spPr>
          <a:xfrm>
            <a:off x="4681728" y="2624328"/>
            <a:ext cx="4005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Shorter; self-generated inbound pipeline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3081528"/>
            <a:ext cx="8412480" cy="457200"/>
          </a:xfrm>
          <a:prstGeom prst="rect">
            <a:avLst/>
          </a:prstGeom>
          <a:solidFill>
            <a:srgbClr val="F2F2E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Shape 28"/>
          <p:cNvSpPr/>
          <p:nvPr/>
        </p:nvSpPr>
        <p:spPr>
          <a:xfrm>
            <a:off x="365760" y="3081528"/>
            <a:ext cx="1508760" cy="457200"/>
          </a:xfrm>
          <a:prstGeom prst="rect">
            <a:avLst/>
          </a:prstGeom>
          <a:solidFill>
            <a:srgbClr val="D8EDD6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1" name="Text 29"/>
          <p:cNvSpPr/>
          <p:nvPr/>
        </p:nvSpPr>
        <p:spPr>
          <a:xfrm>
            <a:off x="457200" y="31272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valuation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65960" y="31272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signal via partner traction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572000" y="3081528"/>
            <a:ext cx="32004" cy="457200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4" name="Text 32"/>
          <p:cNvSpPr/>
          <p:nvPr/>
        </p:nvSpPr>
        <p:spPr>
          <a:xfrm>
            <a:off x="4681728" y="3127248"/>
            <a:ext cx="4005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Premium: brand = IP moat + growth story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65760" y="3584448"/>
            <a:ext cx="841248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6" name="Shape 34"/>
          <p:cNvSpPr/>
          <p:nvPr/>
        </p:nvSpPr>
        <p:spPr>
          <a:xfrm>
            <a:off x="365760" y="3584448"/>
            <a:ext cx="1508760" cy="457200"/>
          </a:xfrm>
          <a:prstGeom prst="rect">
            <a:avLst/>
          </a:prstGeom>
          <a:solidFill>
            <a:srgbClr val="D8EDD6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7" name="Text 35"/>
          <p:cNvSpPr/>
          <p:nvPr/>
        </p:nvSpPr>
        <p:spPr>
          <a:xfrm>
            <a:off x="457200" y="36301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coverage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965960" y="363016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tracked (no direct engagement)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0" y="3584448"/>
            <a:ext cx="32004" cy="457200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0" name="Text 38"/>
          <p:cNvSpPr/>
          <p:nvPr/>
        </p:nvSpPr>
        <p:spPr>
          <a:xfrm>
            <a:off x="4681728" y="3630168"/>
            <a:ext cx="4005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Magic Quadrant / Forrester Wave eligible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5760" y="4087368"/>
            <a:ext cx="8412480" cy="457200"/>
          </a:xfrm>
          <a:prstGeom prst="rect">
            <a:avLst/>
          </a:prstGeom>
          <a:solidFill>
            <a:srgbClr val="F2F2EF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2" name="Shape 40"/>
          <p:cNvSpPr/>
          <p:nvPr/>
        </p:nvSpPr>
        <p:spPr>
          <a:xfrm>
            <a:off x="365760" y="4087368"/>
            <a:ext cx="1508760" cy="457200"/>
          </a:xfrm>
          <a:prstGeom prst="rect">
            <a:avLst/>
          </a:prstGeom>
          <a:solidFill>
            <a:srgbClr val="D8EDD6"/>
          </a:solidFill>
          <a:ln w="5080">
            <a:solidFill>
              <a:srgbClr val="C8D8D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3" name="Text 41"/>
          <p:cNvSpPr/>
          <p:nvPr/>
        </p:nvSpPr>
        <p:spPr>
          <a:xfrm>
            <a:off x="457200" y="41330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leverage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965960" y="413308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OEMs define terms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0" y="4087368"/>
            <a:ext cx="32004" cy="457200"/>
          </a:xfrm>
          <a:prstGeom prst="rect">
            <a:avLst/>
          </a:prstGeom>
          <a:solidFill>
            <a:srgbClr val="C5E84A"/>
          </a:solidFill>
          <a:ln w="12700">
            <a:solidFill>
              <a:srgbClr val="C5E84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6" name="Text 44"/>
          <p:cNvSpPr/>
          <p:nvPr/>
        </p:nvSpPr>
        <p:spPr>
          <a:xfrm>
            <a:off x="4681728" y="4133088"/>
            <a:ext cx="4005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from brand strength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65760" y="4645152"/>
            <a:ext cx="8412480" cy="22860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8" name="Text 46"/>
          <p:cNvSpPr/>
          <p:nvPr/>
        </p:nvSpPr>
        <p:spPr>
          <a:xfrm>
            <a:off x="502920" y="4654296"/>
            <a:ext cx="8138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 Direct B2B branding accelerates adoption, improves Series A valuation premium, and unlocks direct analyst coverage — at the cost of investment in events, content, and analyst relations (est. €80–150K Year 1).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0" name="Text 48"/>
          <p:cNvSpPr/>
          <p:nvPr/>
        </p:nvSpPr>
        <p:spPr>
          <a:xfrm>
            <a:off x="274320" y="4946904"/>
            <a:ext cx="7772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AB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OneVisage  ·  B2B Branding &amp; Market Positioning  ·  SKEMA Business School  ·  March 2026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8503920" y="4946904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C5E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A3C34"/>
          </a:solidFill>
          <a:ln w="12700">
            <a:solidFill>
              <a:srgbClr val="1A3C3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" name="Text 1"/>
          <p:cNvSpPr/>
          <p:nvPr/>
        </p:nvSpPr>
        <p:spPr>
          <a:xfrm>
            <a:off x="365760" y="440740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005840" y="1645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920240" y="1645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834640" y="1645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749040" y="1645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663440" y="1645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77840" y="1645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92240" y="1645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4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06640" y="1645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11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828032" y="146304"/>
            <a:ext cx="822960" cy="292608"/>
          </a:xfrm>
          <a:prstGeom prst="rect">
            <a:avLst/>
          </a:prstGeom>
          <a:solidFill>
            <a:srgbClr val="C04040"/>
          </a:solidFill>
          <a:ln w="12700">
            <a:solidFill>
              <a:srgbClr val="C0404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3" name="Text 11"/>
          <p:cNvSpPr/>
          <p:nvPr/>
        </p:nvSpPr>
        <p:spPr>
          <a:xfrm>
            <a:off x="4828032" y="16459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21 · today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5230368" y="438912"/>
            <a:ext cx="36576" cy="3794760"/>
          </a:xfrm>
          <a:prstGeom prst="rect">
            <a:avLst/>
          </a:prstGeom>
          <a:solidFill>
            <a:srgbClr val="C04040"/>
          </a:solidFill>
          <a:ln w="12700">
            <a:solidFill>
              <a:srgbClr val="C04040"/>
            </a:solidFill>
            <a:prstDash val="dash"/>
          </a:ln>
        </p:spPr>
        <p:txBody>
          <a:bodyPr/>
          <a:lstStyle/>
          <a:p>
            <a:endParaRPr lang="en-FR"/>
          </a:p>
        </p:txBody>
      </p:sp>
      <p:sp>
        <p:nvSpPr>
          <p:cNvPr id="15" name="Text 13"/>
          <p:cNvSpPr/>
          <p:nvPr/>
        </p:nvSpPr>
        <p:spPr>
          <a:xfrm>
            <a:off x="0" y="5486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0" y="80467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&amp; Scoping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88720" y="566928"/>
            <a:ext cx="914400" cy="329184"/>
          </a:xfrm>
          <a:prstGeom prst="rect">
            <a:avLst/>
          </a:prstGeom>
          <a:solidFill>
            <a:srgbClr val="5CAF7A"/>
          </a:solidFill>
          <a:ln w="12700">
            <a:solidFill>
              <a:srgbClr val="5CAF7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8" name="Text 16"/>
          <p:cNvSpPr/>
          <p:nvPr/>
        </p:nvSpPr>
        <p:spPr>
          <a:xfrm>
            <a:off x="2176272" y="594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Week 1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0" y="11430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0" y="139903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&amp; Influence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103120" y="1161288"/>
            <a:ext cx="914400" cy="329184"/>
          </a:xfrm>
          <a:prstGeom prst="rect">
            <a:avLst/>
          </a:prstGeom>
          <a:solidFill>
            <a:srgbClr val="5CAF7A"/>
          </a:solidFill>
          <a:ln w="12700">
            <a:solidFill>
              <a:srgbClr val="5CAF7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2" name="Text 20"/>
          <p:cNvSpPr/>
          <p:nvPr/>
        </p:nvSpPr>
        <p:spPr>
          <a:xfrm>
            <a:off x="3090672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Week 2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0" y="17373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0" y="199339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&amp; ROI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017520" y="1755648"/>
            <a:ext cx="1828800" cy="329184"/>
          </a:xfrm>
          <a:prstGeom prst="rect">
            <a:avLst/>
          </a:prstGeom>
          <a:solidFill>
            <a:srgbClr val="5CAF7A"/>
          </a:solidFill>
          <a:ln w="12700">
            <a:solidFill>
              <a:srgbClr val="5CAF7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6" name="Text 24"/>
          <p:cNvSpPr/>
          <p:nvPr/>
        </p:nvSpPr>
        <p:spPr>
          <a:xfrm>
            <a:off x="4919472" y="1783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Weeks 3–4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0" y="233172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258775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Review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 rot="2700000">
            <a:off x="4901184" y="2386584"/>
            <a:ext cx="292608" cy="292608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0" name="Text 28"/>
          <p:cNvSpPr/>
          <p:nvPr/>
        </p:nvSpPr>
        <p:spPr>
          <a:xfrm>
            <a:off x="5266944" y="23774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· Mar 23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0" y="292608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0" y="318211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Positioning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846320" y="2944368"/>
            <a:ext cx="1828800" cy="329184"/>
          </a:xfrm>
          <a:prstGeom prst="rect">
            <a:avLst/>
          </a:prstGeom>
          <a:solidFill>
            <a:srgbClr val="9BA8D4"/>
          </a:solidFill>
          <a:ln w="12700">
            <a:solidFill>
              <a:srgbClr val="9BA8D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4" name="Text 32"/>
          <p:cNvSpPr/>
          <p:nvPr/>
        </p:nvSpPr>
        <p:spPr>
          <a:xfrm>
            <a:off x="6748272" y="2971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5–6 · Upcoming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0" y="352044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3C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0" y="3776472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Delivery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675120" y="3538728"/>
            <a:ext cx="1828800" cy="329184"/>
          </a:xfrm>
          <a:prstGeom prst="rect">
            <a:avLst/>
          </a:prstGeom>
          <a:solidFill>
            <a:srgbClr val="9BA8D4"/>
          </a:solidFill>
          <a:ln w="12700">
            <a:solidFill>
              <a:srgbClr val="9BA8D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38" name="Text 36"/>
          <p:cNvSpPr/>
          <p:nvPr/>
        </p:nvSpPr>
        <p:spPr>
          <a:xfrm>
            <a:off x="8577072" y="35661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7–8 · Upcoming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05840" y="39136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1920240" y="39136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2834640" y="39136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3749040" y="39136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663440" y="39136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577840" y="39136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492240" y="39136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406640" y="39136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3D5C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31520" y="4160520"/>
            <a:ext cx="201168" cy="146304"/>
          </a:xfrm>
          <a:prstGeom prst="rect">
            <a:avLst/>
          </a:prstGeom>
          <a:solidFill>
            <a:srgbClr val="5CAF7A"/>
          </a:solidFill>
          <a:ln w="12700">
            <a:solidFill>
              <a:srgbClr val="5CAF7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8" name="Text 46"/>
          <p:cNvSpPr/>
          <p:nvPr/>
        </p:nvSpPr>
        <p:spPr>
          <a:xfrm>
            <a:off x="969264" y="4160520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834640" y="4160520"/>
            <a:ext cx="201168" cy="146304"/>
          </a:xfrm>
          <a:prstGeom prst="rect">
            <a:avLst/>
          </a:prstGeom>
          <a:solidFill>
            <a:srgbClr val="D4830A"/>
          </a:solidFill>
          <a:ln w="12700">
            <a:solidFill>
              <a:srgbClr val="D4830A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0" name="Text 48"/>
          <p:cNvSpPr/>
          <p:nvPr/>
        </p:nvSpPr>
        <p:spPr>
          <a:xfrm>
            <a:off x="3072384" y="4160520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review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937760" y="4160520"/>
            <a:ext cx="201168" cy="146304"/>
          </a:xfrm>
          <a:prstGeom prst="rect">
            <a:avLst/>
          </a:prstGeom>
          <a:solidFill>
            <a:srgbClr val="9BA8D4"/>
          </a:solidFill>
          <a:ln w="12700">
            <a:solidFill>
              <a:srgbClr val="9BA8D4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2" name="Text 50"/>
          <p:cNvSpPr/>
          <p:nvPr/>
        </p:nvSpPr>
        <p:spPr>
          <a:xfrm>
            <a:off x="5175504" y="4160520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040880" y="4160520"/>
            <a:ext cx="201168" cy="146304"/>
          </a:xfrm>
          <a:prstGeom prst="rect">
            <a:avLst/>
          </a:prstGeom>
          <a:solidFill>
            <a:srgbClr val="C04040"/>
          </a:solidFill>
          <a:ln w="12700">
            <a:solidFill>
              <a:srgbClr val="C0404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4" name="Text 52"/>
          <p:cNvSpPr/>
          <p:nvPr/>
        </p:nvSpPr>
        <p:spPr>
          <a:xfrm>
            <a:off x="7278624" y="4160520"/>
            <a:ext cx="16459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62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Mar 21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1610</Words>
  <Application>Microsoft Macintosh PowerPoint</Application>
  <PresentationFormat>On-screen Show (16:9)</PresentationFormat>
  <Paragraphs>310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OneVisage — Industry Landscape &amp; Influencer Map</dc:title>
  <dc:subject>PptxGenJS Presentation</dc:subject>
  <dc:creator>PptxGenJS</dc:creator>
  <cp:lastModifiedBy>Deepak Sahu</cp:lastModifiedBy>
  <cp:revision>1</cp:revision>
  <dcterms:created xsi:type="dcterms:W3CDTF">2026-03-20T15:41:11Z</dcterms:created>
  <dcterms:modified xsi:type="dcterms:W3CDTF">2026-03-20T15:44:23Z</dcterms:modified>
</cp:coreProperties>
</file>